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0972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94560"/>
            <a:ext cx="1554480" cy="1554480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55448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4A2F1C"/>
                </a:solidFill>
                <a:latin typeface="Segoe UI"/>
              </a:rPr>
              <a:t>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20240"/>
            <a:ext cx="8595360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Tarjeta de Fidelidad</a:t>
            </a:r>
          </a:p>
          <a:p>
            <a:pPr algn="l"/>
            <a:r>
              <a:rPr sz="4400" b="1">
                <a:solidFill>
                  <a:srgbClr val="D6B282"/>
                </a:solidFill>
                <a:latin typeface="Segoe UI"/>
              </a:rPr>
              <a:t>para Apple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383280"/>
            <a:ext cx="85953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>
                <a:solidFill>
                  <a:srgbClr val="FFF4E6"/>
                </a:solidFill>
                <a:latin typeface="Segoe UI"/>
              </a:rPr>
              <a:t>Como se ve y como se usa la app de tu cafeteria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0">
                <a:solidFill>
                  <a:srgbClr val="D6B282"/>
                </a:solidFill>
                <a:latin typeface="Segoe UI"/>
              </a:rPr>
              <a:t>Cafe para llevar  ·  Programa "10 sellos = 1 cafe gratis"  ·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¿Que es esta app?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>
                <a:solidFill>
                  <a:srgbClr val="4A2F1C"/>
                </a:solidFill>
                <a:latin typeface="Segoe UI"/>
              </a:rPr>
              <a:t>Una tarjeta de fidelidad digital que tus clientes guardan en la app Apple Wallet de su iPhone. Sin plastico, sin apps que descargar.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26517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2651760" cy="82296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6517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100%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22860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El cliente la agrega a Apple Wallet con un toque. Siempre la lleva en su iPhone.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377440"/>
            <a:ext cx="26517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377440"/>
            <a:ext cx="2651760" cy="82296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423160"/>
            <a:ext cx="26517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38328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Sellos automaticos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22860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Cada compra suma un sello. Al llegar a 10, gana un cafe gratis.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377440"/>
            <a:ext cx="26517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377440"/>
            <a:ext cx="2651760" cy="82296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6517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8328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Se actualiza sola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39"/>
            <a:ext cx="22860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El saldo de sellos cambia al instante en el telefono del cliente.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377440"/>
            <a:ext cx="26517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2377440"/>
            <a:ext cx="2651760" cy="82296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423160"/>
            <a:ext cx="265176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383280"/>
            <a:ext cx="265176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Notificaciones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977639"/>
            <a:ext cx="22860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Avisa al cliente cuando pasa cerca de tu cafeteria o gana un premio.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Asi se ve la tarjeta en el iPhone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463040"/>
            <a:ext cx="3291840" cy="5102352"/>
          </a:xfrm>
          <a:prstGeom prst="roundRect">
            <a:avLst/>
          </a:prstGeom>
          <a:solidFill>
            <a:srgbClr val="4A2F1C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27632"/>
            <a:ext cx="20116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D6B282"/>
                </a:solidFill>
                <a:latin typeface="Segoe UI"/>
              </a:rPr>
              <a:t>☕ MI CAFETERIA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572768"/>
            <a:ext cx="9601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1">
                <a:solidFill>
                  <a:srgbClr val="D6B282"/>
                </a:solidFill>
                <a:latin typeface="Segoe UI"/>
              </a:rPr>
              <a:t>SELLOS</a:t>
            </a:r>
          </a:p>
          <a:p>
            <a:pPr algn="r"/>
            <a:r>
              <a:rPr sz="1600" b="1">
                <a:solidFill>
                  <a:srgbClr val="FFFFFF"/>
                </a:solidFill>
                <a:latin typeface="Segoe UI"/>
              </a:rPr>
              <a:t>7/10</a:t>
            </a:r>
          </a:p>
        </p:txBody>
      </p:sp>
      <p:sp>
        <p:nvSpPr>
          <p:cNvPr id="8" name="Oval 7"/>
          <p:cNvSpPr/>
          <p:nvPr/>
        </p:nvSpPr>
        <p:spPr>
          <a:xfrm>
            <a:off x="1257300" y="2331720"/>
            <a:ext cx="237744" cy="237744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40764" y="2331720"/>
            <a:ext cx="237744" cy="237744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24228" y="2331720"/>
            <a:ext cx="237744" cy="237744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07692" y="2331720"/>
            <a:ext cx="237744" cy="237744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91156" y="2331720"/>
            <a:ext cx="237744" cy="237744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4620" y="2331720"/>
            <a:ext cx="237744" cy="237744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58084" y="2331720"/>
            <a:ext cx="237744" cy="237744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41548" y="2331720"/>
            <a:ext cx="237744" cy="237744"/>
          </a:xfrm>
          <a:prstGeom prst="ellipse">
            <a:avLst/>
          </a:prstGeom>
          <a:noFill/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5012" y="2331720"/>
            <a:ext cx="237744" cy="237744"/>
          </a:xfrm>
          <a:prstGeom prst="ellipse">
            <a:avLst/>
          </a:prstGeom>
          <a:noFill/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08476" y="2331720"/>
            <a:ext cx="237744" cy="237744"/>
          </a:xfrm>
          <a:prstGeom prst="ellipse">
            <a:avLst/>
          </a:prstGeom>
          <a:noFill/>
          <a:ln w="1270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2697480"/>
            <a:ext cx="2834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D6B282"/>
                </a:solidFill>
                <a:latin typeface="Segoe UI"/>
              </a:rPr>
              <a:t>Tu progreso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063240"/>
            <a:ext cx="28346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D6B282"/>
                </a:solidFill>
                <a:latin typeface="Segoe UI"/>
              </a:rPr>
              <a:t>CLIENTE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Juan Perez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063240"/>
            <a:ext cx="13258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800" b="1">
                <a:solidFill>
                  <a:srgbClr val="D6B282"/>
                </a:solidFill>
                <a:latin typeface="Segoe UI"/>
              </a:rPr>
              <a:t>TE FALTAN</a:t>
            </a:r>
          </a:p>
          <a:p>
            <a:pPr algn="r"/>
            <a:r>
              <a:rPr sz="1300" b="1">
                <a:solidFill>
                  <a:srgbClr val="FFFFFF"/>
                </a:solidFill>
                <a:latin typeface="Segoe UI"/>
              </a:rPr>
              <a:t>3 cafe(s)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03320"/>
            <a:ext cx="28346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D6B282"/>
                </a:solidFill>
                <a:latin typeface="Segoe UI"/>
              </a:rPr>
              <a:t>NIVEL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Cafe Lover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4343400"/>
            <a:ext cx="10058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11705" y="440626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4625" y="440626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40355" y="440626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66085" y="440626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14625" y="453199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11705" y="465772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37435" y="465772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88895" y="465772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14625" y="465772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66085" y="465772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11705" y="478345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88895" y="478345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11705" y="490918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37435" y="490918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3165" y="490918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88895" y="490918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14625" y="490918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40355" y="490918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11705" y="503491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7435" y="503491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63165" y="503491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88895" y="503491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14625" y="503491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40355" y="503491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66085" y="5160645"/>
            <a:ext cx="125730" cy="12573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6153912"/>
            <a:ext cx="32918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D6B282"/>
                </a:solidFill>
                <a:latin typeface="Segoe UI"/>
              </a:rPr>
              <a:t>CAFE-AB12CD34</a:t>
            </a:r>
          </a:p>
        </p:txBody>
      </p:sp>
      <p:sp>
        <p:nvSpPr>
          <p:cNvPr id="49" name="Oval 48"/>
          <p:cNvSpPr/>
          <p:nvPr/>
        </p:nvSpPr>
        <p:spPr>
          <a:xfrm>
            <a:off x="4937760" y="1554480"/>
            <a:ext cx="164592" cy="164592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57800" y="1463039"/>
            <a:ext cx="6400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Logo y nombre:  </a:t>
            </a:r>
            <a:r>
              <a:rPr sz="1400" b="0">
                <a:solidFill>
                  <a:srgbClr val="666666"/>
                </a:solidFill>
                <a:latin typeface="Segoe UI"/>
              </a:rPr>
              <a:t>Tu marca arriba, siempre visible.</a:t>
            </a:r>
          </a:p>
        </p:txBody>
      </p:sp>
      <p:sp>
        <p:nvSpPr>
          <p:cNvPr id="51" name="Oval 50"/>
          <p:cNvSpPr/>
          <p:nvPr/>
        </p:nvSpPr>
        <p:spPr>
          <a:xfrm>
            <a:off x="4937760" y="2304288"/>
            <a:ext cx="164592" cy="164592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7800" y="2212848"/>
            <a:ext cx="6400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Contador de sellos:  </a:t>
            </a:r>
            <a:r>
              <a:rPr sz="1400" b="0">
                <a:solidFill>
                  <a:srgbClr val="666666"/>
                </a:solidFill>
                <a:latin typeface="Segoe UI"/>
              </a:rPr>
              <a:t>7 de 10. Se actualiza con cada compra.</a:t>
            </a:r>
          </a:p>
        </p:txBody>
      </p:sp>
      <p:sp>
        <p:nvSpPr>
          <p:cNvPr id="53" name="Oval 52"/>
          <p:cNvSpPr/>
          <p:nvPr/>
        </p:nvSpPr>
        <p:spPr>
          <a:xfrm>
            <a:off x="4937760" y="3054096"/>
            <a:ext cx="164592" cy="164592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57800" y="2962656"/>
            <a:ext cx="6400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Barra de progreso:  </a:t>
            </a:r>
            <a:r>
              <a:rPr sz="1400" b="0">
                <a:solidFill>
                  <a:srgbClr val="666666"/>
                </a:solidFill>
                <a:latin typeface="Segoe UI"/>
              </a:rPr>
              <a:t>Circulos llenos = sellos ganados.</a:t>
            </a:r>
          </a:p>
        </p:txBody>
      </p:sp>
      <p:sp>
        <p:nvSpPr>
          <p:cNvPr id="55" name="Oval 54"/>
          <p:cNvSpPr/>
          <p:nvPr/>
        </p:nvSpPr>
        <p:spPr>
          <a:xfrm>
            <a:off x="4937760" y="3803904"/>
            <a:ext cx="164592" cy="164592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57800" y="3712464"/>
            <a:ext cx="6400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Datos del cliente:  </a:t>
            </a:r>
            <a:r>
              <a:rPr sz="1400" b="0">
                <a:solidFill>
                  <a:srgbClr val="666666"/>
                </a:solidFill>
                <a:latin typeface="Segoe UI"/>
              </a:rPr>
              <a:t>Nombre y cuantos cafes le faltan.</a:t>
            </a:r>
          </a:p>
        </p:txBody>
      </p:sp>
      <p:sp>
        <p:nvSpPr>
          <p:cNvPr id="57" name="Oval 56"/>
          <p:cNvSpPr/>
          <p:nvPr/>
        </p:nvSpPr>
        <p:spPr>
          <a:xfrm>
            <a:off x="4937760" y="4553712"/>
            <a:ext cx="164592" cy="164592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57800" y="4462272"/>
            <a:ext cx="6400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Nivel de cliente:  </a:t>
            </a:r>
            <a:r>
              <a:rPr sz="1400" b="0">
                <a:solidFill>
                  <a:srgbClr val="666666"/>
                </a:solidFill>
                <a:latin typeface="Segoe UI"/>
              </a:rPr>
              <a:t>Lover, Pro, Master, Legend.</a:t>
            </a:r>
          </a:p>
        </p:txBody>
      </p:sp>
      <p:sp>
        <p:nvSpPr>
          <p:cNvPr id="59" name="Oval 58"/>
          <p:cNvSpPr/>
          <p:nvPr/>
        </p:nvSpPr>
        <p:spPr>
          <a:xfrm>
            <a:off x="4937760" y="5303520"/>
            <a:ext cx="164592" cy="164592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57800" y="5212080"/>
            <a:ext cx="64008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Codigo QR:  </a:t>
            </a:r>
            <a:r>
              <a:rPr sz="1400" b="0">
                <a:solidFill>
                  <a:srgbClr val="666666"/>
                </a:solidFill>
                <a:latin typeface="Segoe UI"/>
              </a:rPr>
              <a:t>El personal lo escanea para sumar sellos.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El reverso: informacion y contacto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463040"/>
            <a:ext cx="3291840" cy="5029200"/>
          </a:xfrm>
          <a:prstGeom prst="roundRect">
            <a:avLst/>
          </a:prstGeom>
          <a:solidFill>
            <a:srgbClr val="FFF4E6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Segoe UI"/>
              </a:rPr>
              <a:t>COMO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11680"/>
            <a:ext cx="2834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4A2F1C"/>
                </a:solidFill>
                <a:latin typeface="Segoe UI"/>
              </a:rPr>
              <a:t>Acumula 1 sello por cada cafe. Al completar 10, tu siguiente cafe es GRATIS.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108960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Segoe UI"/>
              </a:rPr>
              <a:t>TERMINOS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29000"/>
            <a:ext cx="2834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4A2F1C"/>
                </a:solidFill>
                <a:latin typeface="Segoe UI"/>
              </a:rPr>
              <a:t>Los sellos expiran tras 6 meses de inactividad. No acumulable con otras promociones.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26280"/>
            <a:ext cx="283464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6F4E37"/>
                </a:solidFill>
                <a:latin typeface="Segoe UI"/>
              </a:rPr>
              <a:t>CONTACTO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846320"/>
            <a:ext cx="2834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4A2F1C"/>
                </a:solidFill>
                <a:latin typeface="Segoe UI"/>
              </a:rPr>
              <a:t>info@tucafeteria.com
Tel: +52 55 1234 5678
www.tucafeteria.com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28800"/>
            <a:ext cx="6675120" cy="3657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4A2F1C"/>
                </a:solidFill>
                <a:latin typeface="Segoe UI"/>
              </a:rPr>
              <a:t>Todo lo que el cliente necesita saber</a:t>
            </a:r>
          </a:p>
          <a:p>
            <a:pPr algn="l"/>
            <a:r>
              <a:rPr sz="800" b="0">
                <a:solidFill>
                  <a:srgbClr val="666666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Segoe UI"/>
              </a:rPr>
              <a:t>✓  Reglas del programa siempre a la mano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Segoe UI"/>
              </a:rPr>
              <a:t>✓  Telefono, correo y web de tu cafeteria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Segoe UI"/>
              </a:rPr>
              <a:t>✓  Terminos y condiciones claros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Segoe UI"/>
              </a:rPr>
              <a:t>✓  Sin letra chica escondida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6F4E37"/>
                </a:solidFill>
                <a:latin typeface="Segoe UI"/>
              </a:rPr>
              <a:t>El cliente gira la tarjeta tocando el boton "..." en Wallet.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Como la usa el 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2697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4460" y="2286000"/>
            <a:ext cx="914400" cy="91440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4460" y="2331720"/>
            <a:ext cx="9144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400" b="1">
                <a:solidFill>
                  <a:srgbClr val="D6B282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📩  Recibe la tarjeta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2331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Por email, WhatsApp o escaneando un QR en tu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291840"/>
            <a:ext cx="5486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800" b="1">
                <a:solidFill>
                  <a:srgbClr val="D6B282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2011680"/>
            <a:ext cx="2697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56532" y="2286000"/>
            <a:ext cx="914400" cy="91440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6532" y="2331720"/>
            <a:ext cx="9144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400" b="1">
                <a:solidFill>
                  <a:srgbClr val="D6B282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338328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➕  La agrega a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4023360"/>
            <a:ext cx="2331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Un toque en "Agregar a Apple Wallet". Listo.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3291840"/>
            <a:ext cx="5486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800" b="1">
                <a:solidFill>
                  <a:srgbClr val="D6B282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011680"/>
            <a:ext cx="2697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18604" y="2286000"/>
            <a:ext cx="914400" cy="91440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8604" y="2331720"/>
            <a:ext cx="9144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400" b="1">
                <a:solidFill>
                  <a:srgbClr val="D6B282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7064" y="338328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☕  Compra su cafe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4023360"/>
            <a:ext cx="2331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Muestra el QR de la tarjeta al pagar.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3291840"/>
            <a:ext cx="5486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800" b="1">
                <a:solidFill>
                  <a:srgbClr val="D6B282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2011680"/>
            <a:ext cx="2697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80676" y="2286000"/>
            <a:ext cx="914400" cy="91440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80676" y="2331720"/>
            <a:ext cx="9144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400" b="1">
                <a:solidFill>
                  <a:srgbClr val="D6B282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3383280"/>
            <a:ext cx="2697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700" b="1">
                <a:solidFill>
                  <a:srgbClr val="4A2F1C"/>
                </a:solidFill>
                <a:latin typeface="Segoe UI"/>
              </a:rPr>
              <a:t>🎉  Gana cafe gratis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5" y="4023360"/>
            <a:ext cx="2331720" cy="12801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Al llegar a 10 sellos, el premio aparece solo.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Como suma sellos tu personal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3200400" cy="4937760"/>
          </a:xfrm>
          <a:prstGeom prst="roundRect">
            <a:avLst/>
          </a:prstGeom>
          <a:solidFill>
            <a:srgbClr val="4A2F1C"/>
          </a:solidFill>
          <a:ln w="2540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8346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1">
                <a:solidFill>
                  <a:srgbClr val="4A2F1C"/>
                </a:solidFill>
                <a:latin typeface="Segoe UI"/>
              </a:rPr>
              <a:t>Panel del personal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514600"/>
            <a:ext cx="2194560" cy="1828800"/>
          </a:xfrm>
          <a:prstGeom prst="roundRect">
            <a:avLst/>
          </a:prstGeom>
          <a:solidFill>
            <a:srgbClr val="EEE8E0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108960"/>
            <a:ext cx="219456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4000" b="1">
                <a:solidFill>
                  <a:srgbClr val="6F4E37"/>
                </a:solidFill>
                <a:latin typeface="Segoe UI"/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886200"/>
            <a:ext cx="2194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Segoe UI"/>
              </a:rPr>
              <a:t>Escanear QR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572000"/>
            <a:ext cx="2194560" cy="6400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617720"/>
            <a:ext cx="21945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+1 Sello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28346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1">
                <a:solidFill>
                  <a:srgbClr val="4A2F1C"/>
                </a:solidFill>
                <a:latin typeface="Segoe UI"/>
              </a:rPr>
              <a:t>Juan Perez  ·  8/10 sellos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737360"/>
            <a:ext cx="502920" cy="50292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3736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D6B282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91639"/>
            <a:ext cx="6217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4A2F1C"/>
                </a:solidFill>
                <a:latin typeface="Segoe UI"/>
              </a:rPr>
              <a:t>Escanea el QR del cliente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Segoe UI"/>
              </a:rPr>
              <a:t>Desde un celular, tablet o el lector del POS.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2880360"/>
            <a:ext cx="502920" cy="50292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288036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D6B282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834640"/>
            <a:ext cx="6217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4A2F1C"/>
                </a:solidFill>
                <a:latin typeface="Segoe UI"/>
              </a:rPr>
              <a:t>Presiona "+1 Sello"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Segoe UI"/>
              </a:rPr>
              <a:t>El sistema registra la compra al instante.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4023360"/>
            <a:ext cx="502920" cy="50292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402336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D6B282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977640"/>
            <a:ext cx="6217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4A2F1C"/>
                </a:solidFill>
                <a:latin typeface="Segoe UI"/>
              </a:rPr>
              <a:t>El cliente se actualiza solo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Segoe UI"/>
              </a:rPr>
              <a:t>Su iPhone recibe el nuevo saldo por notificacion push.</a:t>
            </a:r>
          </a:p>
        </p:txBody>
      </p:sp>
      <p:sp>
        <p:nvSpPr>
          <p:cNvPr id="23" name="Oval 22"/>
          <p:cNvSpPr/>
          <p:nvPr/>
        </p:nvSpPr>
        <p:spPr>
          <a:xfrm>
            <a:off x="4754880" y="5166360"/>
            <a:ext cx="502920" cy="502920"/>
          </a:xfrm>
          <a:prstGeom prst="ellipse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516636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000" b="1">
                <a:solidFill>
                  <a:srgbClr val="D6B282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5120640"/>
            <a:ext cx="621792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4A2F1C"/>
                </a:solidFill>
                <a:latin typeface="Segoe UI"/>
              </a:rPr>
              <a:t>Premio automatico</a:t>
            </a:r>
          </a:p>
          <a:p>
            <a:pPr algn="l"/>
            <a:r>
              <a:rPr sz="1400" b="0">
                <a:solidFill>
                  <a:srgbClr val="666666"/>
                </a:solidFill>
                <a:latin typeface="Segoe UI"/>
              </a:rPr>
              <a:t>Al llegar a 10, se genera el cafe gratis sin hacer nada mas.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Como funciona por dentro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377440" cy="1554480"/>
          </a:xfrm>
          <a:prstGeom prst="roundRect">
            <a:avLst/>
          </a:prstGeom>
          <a:solidFill>
            <a:srgbClr val="FFF4E6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4A2F1C"/>
                </a:solidFill>
                <a:latin typeface="Segoe UI"/>
              </a:rPr>
              <a:t>💳 Compra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194560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4A2F1C"/>
                </a:solidFill>
                <a:latin typeface="Segoe UI"/>
              </a:rPr>
              <a:t>El cliente paga su cafe en tu local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828800"/>
            <a:ext cx="2377440" cy="1554480"/>
          </a:xfrm>
          <a:prstGeom prst="roundRect">
            <a:avLst/>
          </a:prstGeom>
          <a:solidFill>
            <a:srgbClr val="D6B282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965960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4A2F1C"/>
                </a:solidFill>
                <a:latin typeface="Segoe UI"/>
              </a:rPr>
              <a:t>🖥 Servidor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468880"/>
            <a:ext cx="2194560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4A2F1C"/>
                </a:solidFill>
                <a:latin typeface="Segoe UI"/>
              </a:rPr>
              <a:t>Suma el sello y guarda en la base de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828800"/>
            <a:ext cx="2377440" cy="1554480"/>
          </a:xfrm>
          <a:prstGeom prst="roundRect">
            <a:avLst/>
          </a:prstGeom>
          <a:solidFill>
            <a:srgbClr val="FFF4E6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965960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4A2F1C"/>
                </a:solidFill>
                <a:latin typeface="Segoe UI"/>
              </a:rPr>
              <a:t>🔔 Push APNs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68880"/>
            <a:ext cx="2194560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4A2F1C"/>
                </a:solidFill>
                <a:latin typeface="Segoe UI"/>
              </a:rPr>
              <a:t>Apple avisa al iPhone del cliente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1828800"/>
            <a:ext cx="2377440" cy="1554480"/>
          </a:xfrm>
          <a:prstGeom prst="roundRect">
            <a:avLst/>
          </a:prstGeom>
          <a:solidFill>
            <a:srgbClr val="D6B282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965960"/>
            <a:ext cx="23774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4A2F1C"/>
                </a:solidFill>
                <a:latin typeface="Segoe UI"/>
              </a:rPr>
              <a:t>📱 Wallet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468880"/>
            <a:ext cx="2194560" cy="822959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4A2F1C"/>
                </a:solidFill>
                <a:latin typeface="Segoe UI"/>
              </a:rPr>
              <a:t>La tarjeta se actualiza sola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286000"/>
            <a:ext cx="4572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D6B282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286000"/>
            <a:ext cx="4572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D6B282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4572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D6B282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D6B282"/>
                </a:solidFill>
                <a:latin typeface="Segoe UI"/>
              </a:rPr>
              <a:t>Tecnologia usada</a:t>
            </a:r>
          </a:p>
          <a:p>
            <a:pPr algn="l"/>
            <a:r>
              <a:rPr sz="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FFF4E6"/>
                </a:solidFill>
                <a:latin typeface="Segoe UI"/>
              </a:rPr>
              <a:t>•  Node.js + Express  —  el servidor que genera y firma las tarjetas</a:t>
            </a:r>
          </a:p>
          <a:p>
            <a:pPr algn="l"/>
            <a:r>
              <a:rPr sz="1500" b="0">
                <a:solidFill>
                  <a:srgbClr val="FFF4E6"/>
                </a:solidFill>
                <a:latin typeface="Segoe UI"/>
              </a:rPr>
              <a:t>•  SQLite  —  base de datos de clientes y sus sellos (sin servidor externo)</a:t>
            </a:r>
          </a:p>
          <a:p>
            <a:pPr algn="l"/>
            <a:r>
              <a:rPr sz="1500" b="0">
                <a:solidFill>
                  <a:srgbClr val="FFF4E6"/>
                </a:solidFill>
                <a:latin typeface="Segoe UI"/>
              </a:rPr>
              <a:t>•  @walletpass/pass-js  —  crea el archivo .pkpass firmado con tus certificados de Apple</a:t>
            </a:r>
          </a:p>
          <a:p>
            <a:pPr algn="l"/>
            <a:r>
              <a:rPr sz="1500" b="0">
                <a:solidFill>
                  <a:srgbClr val="FFF4E6"/>
                </a:solidFill>
                <a:latin typeface="Segoe UI"/>
              </a:rPr>
              <a:t>•  APNs (Apple Push Notification)  —  actualiza las tarjetas en tiempo real</a:t>
            </a:r>
          </a:p>
          <a:p>
            <a:pPr algn="l"/>
            <a:r>
              <a:rPr sz="1500" b="0">
                <a:solidFill>
                  <a:srgbClr val="FFF4E6"/>
                </a:solidFill>
                <a:latin typeface="Segoe UI"/>
              </a:rPr>
              <a:t>•  Web Service de Apple Wallet  —  protocolo oficial de registro y actualizacion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Que necesitas para lanzarlo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9144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200" b="1">
                <a:solidFill>
                  <a:srgbClr val="6F4E37"/>
                </a:solidFill>
                <a:latin typeface="Segoe UI"/>
              </a:rPr>
              <a:t>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54480"/>
            <a:ext cx="23774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Cuenta Apple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011680"/>
            <a:ext cx="2377439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Segoe UI"/>
              </a:rPr>
              <a:t>99 USD/ano. Necesaria para firmar las tarjetas.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9144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200" b="1">
                <a:solidFill>
                  <a:srgbClr val="6F4E37"/>
                </a:solidFill>
                <a:latin typeface="Segoe U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54480"/>
            <a:ext cx="23774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Certificados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11680"/>
            <a:ext cx="2377439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Segoe UI"/>
              </a:rPr>
              <a:t>Pass Type ID + certificado de Apple (guia incluida).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37160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508760"/>
            <a:ext cx="9144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200" b="1">
                <a:solidFill>
                  <a:srgbClr val="6F4E37"/>
                </a:solidFill>
                <a:latin typeface="Segoe UI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554480"/>
            <a:ext cx="23774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Tu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11680"/>
            <a:ext cx="2377439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Segoe UI"/>
              </a:rPr>
              <a:t>Logo e imagenes de la cafeteria.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54679"/>
            <a:ext cx="9144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200" b="1">
                <a:solidFill>
                  <a:srgbClr val="6F4E37"/>
                </a:solidFill>
                <a:latin typeface="Segoe UI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200400"/>
            <a:ext cx="23774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Servidor HTTPS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657600"/>
            <a:ext cx="2377439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Segoe UI"/>
              </a:rPr>
              <a:t>Para que las tarjetas se actualicen solas.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01752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154679"/>
            <a:ext cx="9144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200" b="1">
                <a:solidFill>
                  <a:srgbClr val="6F4E37"/>
                </a:solidFill>
                <a:latin typeface="Segoe UI"/>
              </a:rPr>
              <a:t>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200400"/>
            <a:ext cx="23774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Configuracion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657600"/>
            <a:ext cx="2377439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Segoe UI"/>
              </a:rPr>
              <a:t>Editar el archivo .env con tus datos.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017520"/>
            <a:ext cx="35661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B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154679"/>
            <a:ext cx="91440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200" b="1">
                <a:solidFill>
                  <a:srgbClr val="6F4E37"/>
                </a:solidFill>
                <a:latin typeface="Segoe UI"/>
              </a:rPr>
              <a:t>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200400"/>
            <a:ext cx="23774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4A2F1C"/>
                </a:solidFill>
                <a:latin typeface="Segoe UI"/>
              </a:rPr>
              <a:t>Listo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657600"/>
            <a:ext cx="2377439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Segoe UI"/>
              </a:rPr>
              <a:t>Generar tarjetas y entregarlas a clientes.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097280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Segoe UI"/>
              </a:rPr>
              <a:t>✅  El codigo de la app ya esta listo y sin errores. Solo faltan tus credenciales de Apple y las imagenes de marca.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09728"/>
          </a:xfrm>
          <a:prstGeom prst="rect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600" b="1">
                <a:solidFill>
                  <a:srgbClr val="D6B282"/>
                </a:solidFill>
                <a:latin typeface="Segoe UI"/>
              </a:rPr>
              <a:t>¿Por que conviene?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4A2F1C"/>
                </a:solidFill>
                <a:latin typeface="Segoe UI"/>
              </a:rPr>
              <a:t>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91639"/>
            <a:ext cx="96012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Clientes que vuelven  —  </a:t>
            </a:r>
            <a:r>
              <a:rPr sz="1600" b="0">
                <a:solidFill>
                  <a:srgbClr val="FFF4E6"/>
                </a:solidFill>
                <a:latin typeface="Segoe UI"/>
              </a:rPr>
              <a:t>El sello incompleto motiva la siguiente visita.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14600"/>
            <a:ext cx="640080" cy="640080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640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4A2F1C"/>
                </a:solidFill>
                <a:latin typeface="Segoe UI"/>
              </a:rPr>
              <a:t>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68880"/>
            <a:ext cx="96012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Cero costo de plastico  —  </a:t>
            </a:r>
            <a:r>
              <a:rPr sz="1600" b="0">
                <a:solidFill>
                  <a:srgbClr val="FFF4E6"/>
                </a:solidFill>
                <a:latin typeface="Segoe UI"/>
              </a:rPr>
              <a:t>Sin imprimir ni reponer tarjetas fisicas.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640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4A2F1C"/>
                </a:solidFill>
                <a:latin typeface="Segoe U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46120"/>
            <a:ext cx="96012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Conoces a tus clientes  —  </a:t>
            </a:r>
            <a:r>
              <a:rPr sz="1600" b="0">
                <a:solidFill>
                  <a:srgbClr val="FFF4E6"/>
                </a:solidFill>
                <a:latin typeface="Segoe UI"/>
              </a:rPr>
              <a:t>Datos de visitas y consumo para tus promociones.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69080"/>
            <a:ext cx="640080" cy="640080"/>
          </a:xfrm>
          <a:prstGeom prst="ellipse">
            <a:avLst/>
          </a:prstGeom>
          <a:solidFill>
            <a:srgbClr val="D6B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4A2F1C"/>
                </a:solidFill>
                <a:latin typeface="Segoe UI"/>
              </a:rPr>
              <a:t>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023360"/>
            <a:ext cx="960120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Marketing directo  —  </a:t>
            </a:r>
            <a:r>
              <a:rPr sz="1600" b="0">
                <a:solidFill>
                  <a:srgbClr val="FFF4E6"/>
                </a:solidFill>
                <a:latin typeface="Segoe UI"/>
              </a:rPr>
              <a:t>Notificaciones cuando pasan cerca de tu local.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400" b="1">
                <a:solidFill>
                  <a:srgbClr val="D6B282"/>
                </a:solidFill>
                <a:latin typeface="Segoe UI"/>
              </a:rPr>
              <a:t>☕ Tu cafeteria, en el bolsillo de cada cliente.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