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0972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55448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5400" b="1">
                <a:solidFill>
                  <a:srgbClr val="4A2F1C"/>
                </a:solidFill>
                <a:latin typeface="Segoe UI"/>
              </a:rP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737360"/>
            <a:ext cx="8778240" cy="1463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Segoe UI"/>
              </a:rPr>
              <a:t>Pon tu app en linea</a:t>
            </a:r>
          </a:p>
          <a:p>
            <a:pPr algn="l"/>
            <a:r>
              <a:rPr sz="4200" b="1">
                <a:solidFill>
                  <a:srgbClr val="D6B282"/>
                </a:solidFill>
                <a:latin typeface="Segoe UI"/>
              </a:rPr>
              <a:t>paso a paso, desde cero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383280"/>
            <a:ext cx="877824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>
                <a:solidFill>
                  <a:srgbClr val="FFF4E6"/>
                </a:solidFill>
                <a:latin typeface="Segoe UI"/>
              </a:rPr>
              <a:t>Guia para llevar la Tarjeta de Fidelidad de Apple Wallet</a:t>
            </a:r>
          </a:p>
          <a:p>
            <a:pPr algn="l"/>
            <a:r>
              <a:rPr sz="2000" b="0">
                <a:solidFill>
                  <a:srgbClr val="FFF4E6"/>
                </a:solidFill>
                <a:latin typeface="Segoe UI"/>
              </a:rPr>
              <a:t>desde tu computadora hasta estar publicada y funcionando.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D6B282"/>
                </a:solidFill>
                <a:latin typeface="Segoe UI"/>
              </a:rPr>
              <a:t>Explicado sin tecnicismos  ·  Para alguien que empieza de cero  · 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El camino completo, de un vistazo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Son 11 pasos. No te asustes: vamos uno por uno y te digo exactamente que hacer.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920240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Instalar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herramientas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920240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0712" y="1920240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920240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1920240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Descargar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el codigo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920240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1920240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1920240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1920240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Certificados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de Apple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1920240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51976" y="1920240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1920240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1920240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Base de datos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(PostgreSQL)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02152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502152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02152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502152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Redis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(cola push)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3502152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10712" y="3502152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3502152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3502152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Configurar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el .env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502152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81344" y="3502152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1344" y="3502152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502152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Elegir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hosting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976" y="3502152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51976" y="3502152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51976" y="3502152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5208" y="3502152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Subir y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desplegar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084064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5084064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84064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3312" y="5084064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Inicializar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la base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10712" y="5084064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10712" y="5084064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10712" y="5084064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23944" y="5084064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Crear cafeteria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de prueba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5084064"/>
            <a:ext cx="26060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81344" y="5084064"/>
            <a:ext cx="640080" cy="13258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81344" y="5084064"/>
            <a:ext cx="64008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94576" y="5084064"/>
            <a:ext cx="1828800" cy="1325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Probar en</a:t>
            </a:r>
          </a:p>
          <a:p>
            <a:pPr algn="l"/>
            <a:r>
              <a:rPr sz="1400" b="1">
                <a:solidFill>
                  <a:srgbClr val="4A2F1C"/>
                </a:solidFill>
                <a:latin typeface="Segoe UI"/>
              </a:rPr>
              <a:t>el iPhone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Segoe UI"/>
              </a:rPr>
              <a:t>Tip: haz un paso, comprueba que funciona, y sigue con el siguiente.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Antes de empezar: que necesitas tener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4A2F1C"/>
                </a:solidFill>
                <a:latin typeface="Segoe UI"/>
              </a:rPr>
              <a:t>Lo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937760" cy="3657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2E7D32"/>
                </a:solidFill>
                <a:latin typeface="Segoe UI"/>
              </a:rPr>
              <a:t>Una computadora (Windows o Mac) con internet.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2E7D32"/>
                </a:solidFill>
                <a:latin typeface="Segoe UI"/>
              </a:rPr>
              <a:t>Un iPhone para probar la tarjeta al final.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2E7D32"/>
                </a:solidFill>
                <a:latin typeface="Segoe UI"/>
              </a:rPr>
              <a:t>Un correo electronico que revises.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2E7D32"/>
                </a:solidFill>
                <a:latin typeface="Segoe UI"/>
              </a:rPr>
              <a:t>Una tarjeta de credito (para la cuenta de Apple y el hosting).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492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937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1">
                <a:solidFill>
                  <a:srgbClr val="4A2F1C"/>
                </a:solidFill>
                <a:latin typeface="Segoe UI"/>
              </a:rPr>
              <a:t>Cuentas y permisos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846320" cy="3657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1">
                <a:solidFill>
                  <a:srgbClr val="4A2F1C"/>
                </a:solidFill>
                <a:latin typeface="Segoe UI"/>
              </a:rPr>
              <a:t>Cuenta de Apple Developer: 99 USD/ano. Es obligatoria para Wallet.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Paciencia para el primer dia: configurar Apple es lo mas lento.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Este proyecto (la carpeta con el codigo) en tu computadora.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1">
                <a:solidFill>
                  <a:srgbClr val="2E7D32"/>
                </a:solidFill>
                <a:latin typeface="Segoe UI"/>
              </a:rPr>
              <a:t>No necesitas saber programar: solo copiar y pegar comandos.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1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Instalar las herramientas en tu computadora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La app esta hecha con Node.js. Tambien necesitas Git (para el codigo) y un editor. Descarga e instala estos tres programas (siguiente, siguiente, listo):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228600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20665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1) Node.js 18 o superior  -&gt;  https://nodejs.org  (boton verde LTS)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2) Git                    -&gt;  https://git-scm.com/downloads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3) Visual Studio Code     -&gt;  https://code.visualstudio.com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Para comprobar que Node quedo instalado, abre una terminal y escribe: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node --version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npm --version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11064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93792"/>
            <a:ext cx="10698480" cy="100583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"Terminal" en Windows es PowerShell; en Mac es la app Terminal.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2E7D32"/>
                </a:solidFill>
                <a:latin typeface="Segoe UI"/>
              </a:rPr>
              <a:t>Si node --version muestra un numero (ej. v20.11.0), vas bien.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Reinicia la terminal despues de instalar para que reconozca los comandos.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2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Descargar el codigo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Lleva el proyecto a tu computadora y deja instaladas sus piezas internas (librerias) con un solo comando.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274320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2523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Abre la terminal en la carpeta donde quieras guardar el proyecto.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Si ya tienes la carpeta, solo entra en ella y salta al npm install.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cd "ruta/donde/guardas/proyectos"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git clone &lt;URL-de-tu-repositorio&gt; fidelidad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cd fidelidad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Instala todo lo que la app necesita por dentro: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npm install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86400"/>
            <a:ext cx="11064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50992"/>
            <a:ext cx="10698480" cy="54863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npm install descarga las librerias (Express, BullMQ, pg...). Tarda 1-2 min.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Si no usas Git, tambien puedes copiar la carpeta del proyecto a mano.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3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Crear los certificados de Apple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Apple exige unos certificados para firmar las tarjetas. Es el paso mas tecnico, pero solo se hace una vez. Estos son los archivos que debes dejar en la carpeta certs/: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155448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13350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certs/signerCert.pem   # tu certificado del Pass Type ID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certs/signerKey.pem    # la clave privada de ese certificado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certs/wwdr.pem         # certificado intermedio de Apple (WWDR)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11064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62272"/>
            <a:ext cx="10698480" cy="17373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4A2F1C"/>
                </a:solidFill>
                <a:latin typeface="Segoe UI"/>
              </a:rPr>
              <a:t>En developer.apple.com creas un "Pass Type ID" (ej. pass.com.tucafe.fidelidad).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Generas su certificado, lo exportas y lo conviertes a .pem (pasos en el README).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Apunta tu Team ID (10 caracteres) y el Pass Type ID: los usaras en el .env.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666666"/>
                </a:solidFill>
                <a:latin typeface="Segoe UI"/>
              </a:rPr>
              <a:t>Consejo: pide ayuda a alguien con Mac para esta parte; alli es mas facil exportar.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4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Conseguir una base de datos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Aqui se guardan tus cafeterias, clientes y sellos. Lo mas facil es contratar una base "gestionada" (alguien la mantiene por ti). Opciones gratuitas o baratas: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237744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21579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Proveedores recomendados (crean la base en minutos):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  - Neon        -&gt;  https://neon.tech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  - Supabase    -&gt;  https://supabase.com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  - Render      -&gt;  https://render.com  (PostgreSQL)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Te daran una CADENA DE CONEXION parecida a esta: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postgres://usuario:clave@host.proveedor.com:5432/basededatos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11064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85231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4A2F1C"/>
                </a:solidFill>
                <a:latin typeface="Segoe UI"/>
              </a:rPr>
              <a:t>Copia esa cadena: sera tu variable DATABASE_URL en el paso 6.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Si el proveedor exige conexion segura, mas adelante pondras PGSSL=true.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666666"/>
                </a:solidFill>
                <a:latin typeface="Segoe UI"/>
              </a:rPr>
              <a:t>Para solo probar en tu PC, puedes usar Docker; pero para "en linea" usa un proveedor.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5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Conseguir Redis (la cola de notificaciones)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Redis es una pieza rapida que guarda en fila los avisos push para que el sistema no se atasque y reintente solo si Apple falla. Tambien se contrata gestionado: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210312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18836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Proveedores de Redis: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  - Upstash     -&gt;  https://upstash.com   (plan gratis para empezar)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  - Render      -&gt;  https://render.com     (Key Value / Redis)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Te daran una cadena parecida a: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redis://default:clave@host.proveedor.com:6379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46320"/>
            <a:ext cx="11064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10912"/>
            <a:ext cx="10698480" cy="118871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4A2F1C"/>
                </a:solidFill>
                <a:latin typeface="Segoe UI"/>
              </a:rPr>
              <a:t>Esa cadena sera tu variable REDIS_URL en el paso 6.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Es opcional: si la dejas vacia, los push se envian directos (bien para pruebas,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pero para muchos clientes conviene usar Redis para que todo sea rapido y fiable).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6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Configurar el archivo .env (tus datos secretos)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El .env es una lista de datos que la app lee al arrancar. Copia el ejemplo y rellena tus valores. Aqui pegas las cadenas de los pasos 4 y 5, y generas tus claves secretas: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246888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22494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WEB_SERVICE_URL=https://tucafeteria.com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PASS_TYPE_IDENTIFIER=pass.com.tucafe.fidelidad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TEAM_IDENTIFIER=ABCDE12345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DATABASE_URL=postgres://usuario:clave@host:5432/basededatos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REDIS_URL=redis://default:clave@host:6379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ENCRYPTION_KEY=&lt;64 caracteres: genera con el comando de abajo&gt;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JWT_SECRET=&lt;minimo 32 caracteres al azar&gt;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064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76672"/>
            <a:ext cx="10698480" cy="8229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4A2F1C"/>
                </a:solidFill>
                <a:latin typeface="Segoe UI"/>
              </a:rPr>
              <a:t>Crea el archivo copiando la plantilla:  copy .env.example .env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Genera claves seguras:  node -e "console.log(require('crypto').randomBytes(32).toString('hex'))"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B03A2E"/>
                </a:solidFill>
                <a:latin typeface="Segoe UI"/>
              </a:rPr>
              <a:t>Nunca compartas el .env ni lo subas a internet: son tus llaves.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7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Elegir donde vivira tu app (hosting)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Tu app necesita estar encendida 24/7 en internet, con direccion HTTPS. Para eso se usa un "hosting". Necesitas DOS piezas corriendo: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4A2F1C"/>
                </a:solidFill>
                <a:latin typeface="Segoe UI"/>
              </a:rPr>
              <a:t>🌐  Servidor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50292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Segoe UI"/>
              </a:rPr>
              <a:t>Atiende a Apple y a tu panel.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49039"/>
            <a:ext cx="5029200" cy="73152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58767"/>
            <a:ext cx="4700016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npm run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46888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50292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4A2F1C"/>
                </a:solidFill>
                <a:latin typeface="Segoe UI"/>
              </a:rPr>
              <a:t>⚙️  Worker de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50292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Segoe UI"/>
              </a:rPr>
              <a:t>Envia las notificaciones desde la cola.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49039"/>
            <a:ext cx="5029200" cy="73152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858767"/>
            <a:ext cx="4700016" cy="51206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npm run worker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64240" cy="1280160"/>
          </a:xfrm>
          <a:prstGeom prst="roundRect">
            <a:avLst/>
          </a:prstGeom>
          <a:solidFill>
            <a:srgbClr val="EEE8E0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106984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4A2F1C"/>
                </a:solidFill>
                <a:latin typeface="Segoe UI"/>
              </a:rPr>
              <a:t>Hosting facil recomendado: Render o Railway. Crean web + worker + base + Redis.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Te dan una direccion HTTPS gratis (ej. https://tucafe.onrender.com).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Pon esa direccion en WEB_SERVICE_URL y NODE_ENV=production.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8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Subir el codigo y desplegar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Conecta tu proyecto al hosting. La forma mas comoda es subirlo a GitHub y que el hosting lo tome de ahi: cada vez que cambies algo, se actualiza solo.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292608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27066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1) Sube tu codigo a GitHub (una sola vez):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git add 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git commit -m "Mi app de fidelidad"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git push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2) En Render/Railway: "New" -&gt; conecta tu repo de GitHub.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   - Servicio 1 (Web):    comando  npm run start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   - Servicio 2 (Worker): comando  npm run worker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   - Pega TODAS las variables del .env en el panel del hosting.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64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33872"/>
            <a:ext cx="10698480" cy="3657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4A2F1C"/>
                </a:solidFill>
                <a:latin typeface="Segoe UI"/>
              </a:rPr>
              <a:t>Las variables del .env se cargan en el panel del hosting, no en un archivo.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2E7D32"/>
                </a:solidFill>
                <a:latin typeface="Segoe UI"/>
              </a:rPr>
              <a:t>Cuando termine el despliegue, abre tu URL: debe responder status: 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9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Preparar la base y crear tu usuario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Con la app ya en linea, hay que crear las tablas (una sola vez) y tu cuenta de operador de la plataforma (la cuenta jefe que da de alta cafeterias).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201168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17922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Desde la consola del hosting (o en tu PC apuntando a la base en linea):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npm run init-db      # crea todas las tablas. No borra nada si ya existen.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npm run create-owner -- tu@correo.com "UnaContrasenaSegura"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64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19472"/>
            <a:ext cx="10698480" cy="12801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init-db lo corres una vez al principio (y tras grandes cambios).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4A2F1C"/>
                </a:solidFill>
                <a:latin typeface="Segoe UI"/>
              </a:rPr>
              <a:t>create-owner crea al "jefe": con el inicias sesion para gestionar todo.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B03A2E"/>
                </a:solidFill>
                <a:latin typeface="Segoe UI"/>
              </a:rPr>
              <a:t>Guarda ese correo y contrasena en un lugar seguro.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10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Crear tu primera cafeteria y un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Ya puedes usar la app. Inicias sesion para obtener un "token", das de alta una cafeteria y creas un cliente. Esto se hace con peticiones a la API (o tu panel):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2743200"/>
          </a:xfrm>
          <a:prstGeom prst="roundRect">
            <a:avLst/>
          </a:prstGeom>
          <a:solidFill>
            <a:srgbClr val="2B2018"/>
          </a:solidFill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78608"/>
            <a:ext cx="10735056" cy="2523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1) Inicia sesion como operador -&gt; te devuelve un token: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POST https://tu-app.com/auth/login   { email, password 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2) Crea una cafeteria (te devuelve su apiKey: guardala):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POST https://tu-app.com/platform/businesses   { name: "Mi Cafe" 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6B282"/>
                </a:solidFill>
                <a:latin typeface="Consolas"/>
              </a:rPr>
              <a:t># 3) Crea un cliente / tarjeta usando la apiKey de la cafeteria: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4E6"/>
                </a:solidFill>
                <a:latin typeface="Consolas"/>
              </a:rPr>
              <a:t>POST https://tu-app.com/admin/passes   { customerName, email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86400"/>
            <a:ext cx="11064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50992"/>
            <a:ext cx="10698480" cy="54863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Puedes probar estas peticiones con apps como Postman o Insomnia (gratis).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1">
                <a:solidFill>
                  <a:srgbClr val="2E7D32"/>
                </a:solidFill>
                <a:latin typeface="Segoe UI"/>
              </a:rPr>
              <a:t>Atajo para probar rapido en tu PC: npm run demo crea una cafeteria y tarjeta de ejemplo.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19456"/>
            <a:ext cx="658368" cy="65836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9456"/>
            <a:ext cx="658368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4A2F1C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4241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D6B282"/>
                </a:solidFill>
                <a:latin typeface="Segoe UI"/>
              </a:rPr>
              <a:t>PASO 11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Probar que funciona en el iPhone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400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4A2F1C"/>
                </a:solidFill>
                <a:latin typeface="Segoe UI"/>
              </a:rPr>
              <a:t>El momento de la verdad. Descarga la tarjeta del cliente, abrela en tu iPhone y comprueba el ciclo completo: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603504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Descarga el archivo .pkpass del cliente (GET .../download).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Abrelo en el iPhone y toca "Agregar": entra en Apple Wallet.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Suma un sello desde el panel (POST .../sellos).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1">
                <a:solidFill>
                  <a:srgbClr val="2E7D32"/>
                </a:solidFill>
                <a:latin typeface="Segoe UI"/>
              </a:rPr>
              <a:t>En segundos, la tarjeta del iPhone se actualiza sola.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1">
                <a:solidFill>
                  <a:srgbClr val="2E7D32"/>
                </a:solidFill>
                <a:latin typeface="Segoe UI"/>
              </a:rPr>
              <a:t>Al llegar a 10 sellos, el cliente gana su cafe gratis.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4206240" cy="4389120"/>
          </a:xfrm>
          <a:prstGeom prst="roundRect">
            <a:avLst/>
          </a:prstGeom>
          <a:solidFill>
            <a:srgbClr val="EEE8E0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2148840"/>
            <a:ext cx="3108960" cy="4818888"/>
          </a:xfrm>
          <a:prstGeom prst="roundRect">
            <a:avLst/>
          </a:prstGeom>
          <a:solidFill>
            <a:srgbClr val="4A2F1C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331720"/>
            <a:ext cx="2651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D6B282"/>
                </a:solidFill>
                <a:latin typeface="Segoe UI"/>
              </a:rPr>
              <a:t>MI CAFE  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88920"/>
            <a:ext cx="2651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Cliente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265176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FFF4E6"/>
                </a:solidFill>
                <a:latin typeface="Segoe UI"/>
              </a:rPr>
              <a:t>Nivel: Cafe Lover</a:t>
            </a:r>
          </a:p>
        </p:txBody>
      </p:sp>
      <p:sp>
        <p:nvSpPr>
          <p:cNvPr id="15" name="Oval 14"/>
          <p:cNvSpPr/>
          <p:nvPr/>
        </p:nvSpPr>
        <p:spPr>
          <a:xfrm>
            <a:off x="8348472" y="3703320"/>
            <a:ext cx="384048" cy="38404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3703320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4A2F1C"/>
                </a:solidFill>
                <a:latin typeface="Segoe UI"/>
              </a:rPr>
              <a:t>☕</a:t>
            </a:r>
          </a:p>
        </p:txBody>
      </p:sp>
      <p:sp>
        <p:nvSpPr>
          <p:cNvPr id="17" name="Oval 16"/>
          <p:cNvSpPr/>
          <p:nvPr/>
        </p:nvSpPr>
        <p:spPr>
          <a:xfrm>
            <a:off x="8842248" y="3703320"/>
            <a:ext cx="384048" cy="38404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2248" y="3703320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4A2F1C"/>
                </a:solidFill>
                <a:latin typeface="Segoe UI"/>
              </a:rPr>
              <a:t>☕</a:t>
            </a:r>
          </a:p>
        </p:txBody>
      </p:sp>
      <p:sp>
        <p:nvSpPr>
          <p:cNvPr id="19" name="Oval 18"/>
          <p:cNvSpPr/>
          <p:nvPr/>
        </p:nvSpPr>
        <p:spPr>
          <a:xfrm>
            <a:off x="9336024" y="3703320"/>
            <a:ext cx="384048" cy="38404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3703320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4A2F1C"/>
                </a:solidFill>
                <a:latin typeface="Segoe UI"/>
              </a:rPr>
              <a:t>☕</a:t>
            </a:r>
          </a:p>
        </p:txBody>
      </p:sp>
      <p:sp>
        <p:nvSpPr>
          <p:cNvPr id="21" name="Oval 20"/>
          <p:cNvSpPr/>
          <p:nvPr/>
        </p:nvSpPr>
        <p:spPr>
          <a:xfrm>
            <a:off x="9829800" y="3703320"/>
            <a:ext cx="384048" cy="38404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3703320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4A2F1C"/>
                </a:solidFill>
                <a:latin typeface="Segoe UI"/>
              </a:rPr>
              <a:t>☕</a:t>
            </a:r>
          </a:p>
        </p:txBody>
      </p:sp>
      <p:sp>
        <p:nvSpPr>
          <p:cNvPr id="23" name="Oval 22"/>
          <p:cNvSpPr/>
          <p:nvPr/>
        </p:nvSpPr>
        <p:spPr>
          <a:xfrm>
            <a:off x="10323576" y="3703320"/>
            <a:ext cx="384048" cy="38404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23576" y="3703320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4A2F1C"/>
                </a:solidFill>
                <a:latin typeface="Segoe UI"/>
              </a:rPr>
              <a:t>☕</a:t>
            </a:r>
          </a:p>
        </p:txBody>
      </p:sp>
      <p:sp>
        <p:nvSpPr>
          <p:cNvPr id="25" name="Oval 24"/>
          <p:cNvSpPr/>
          <p:nvPr/>
        </p:nvSpPr>
        <p:spPr>
          <a:xfrm>
            <a:off x="8348472" y="4197096"/>
            <a:ext cx="384048" cy="38404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4197096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4A2F1C"/>
                </a:solidFill>
                <a:latin typeface="Segoe UI"/>
              </a:rPr>
              <a:t>☕</a:t>
            </a:r>
          </a:p>
        </p:txBody>
      </p:sp>
      <p:sp>
        <p:nvSpPr>
          <p:cNvPr id="27" name="Oval 26"/>
          <p:cNvSpPr/>
          <p:nvPr/>
        </p:nvSpPr>
        <p:spPr>
          <a:xfrm>
            <a:off x="8842248" y="4197096"/>
            <a:ext cx="384048" cy="384048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42248" y="4197096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4A2F1C"/>
                </a:solidFill>
                <a:latin typeface="Segoe UI"/>
              </a:rPr>
              <a:t>☕</a:t>
            </a:r>
          </a:p>
        </p:txBody>
      </p:sp>
      <p:sp>
        <p:nvSpPr>
          <p:cNvPr id="29" name="Oval 28"/>
          <p:cNvSpPr/>
          <p:nvPr/>
        </p:nvSpPr>
        <p:spPr>
          <a:xfrm>
            <a:off x="9336024" y="4197096"/>
            <a:ext cx="384048" cy="384048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29800" y="4197096"/>
            <a:ext cx="384048" cy="384048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3576" y="4197096"/>
            <a:ext cx="384048" cy="384048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6327648"/>
            <a:ext cx="2651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D6B282"/>
                </a:solidFill>
                <a:latin typeface="Segoe UI"/>
              </a:rPr>
              <a:t>7 / 10 sellos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897880"/>
            <a:ext cx="4206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Asi se ve en Apple Wallet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Ya esta en linea: como mantenerla sana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118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11880" cy="8686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🔐  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200400" cy="3474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Guarda .env y ENCRYPTION_KEY a buen recaudo.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Usa siempre HTTPS (NODE_ENV=production).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Rota las claves de vez en cuando.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6118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611880" cy="8686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417320"/>
            <a:ext cx="3611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💾  Respaldos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468880"/>
            <a:ext cx="3200400" cy="3474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Activa backups de tu base PostgreSQL.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Si pierdes ENCRYPTION_KEY, pierdes los datos cifrados.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Prueba restaurar un backup alguna vez.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371600"/>
            <a:ext cx="36118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8" y="1371600"/>
            <a:ext cx="3611880" cy="86868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8" y="1417320"/>
            <a:ext cx="36118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📈  Crecer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8" y="2468880"/>
            <a:ext cx="3200400" cy="3474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Lanza mas workers si envias muchos push.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Vigila el panel de tu hosting (CPU, memoria).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D6B282"/>
                </a:solidFill>
                <a:latin typeface="Segoe UI"/>
              </a:rPr>
              <a:t>• </a:t>
            </a:r>
            <a:r>
              <a:rPr sz="1400" b="0">
                <a:solidFill>
                  <a:srgbClr val="4A2F1C"/>
                </a:solidFill>
                <a:latin typeface="Segoe UI"/>
              </a:rPr>
              <a:t>Sube de plan cuando tengas mas clientes.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¿Que tengo que pagar?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611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611880" cy="73152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6118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Obligatorio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2004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A2F1C"/>
                </a:solidFill>
                <a:latin typeface="Segoe UI"/>
              </a:rPr>
              <a:t>Cuenta Apple Developer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B03A2E"/>
                </a:solidFill>
                <a:latin typeface="Segoe UI"/>
              </a:rPr>
              <a:t>99 USD / ano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Segoe UI"/>
              </a:rPr>
              <a:t>Sin esto no hay tarjetas en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Segoe UI"/>
              </a:rPr>
              <a:t>Apple Wallet. Es lo unico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Segoe UI"/>
              </a:rPr>
              <a:t>100% inevitable.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25880"/>
            <a:ext cx="3611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2B5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731520"/>
          </a:xfrm>
          <a:prstGeom prst="roundRect">
            <a:avLst/>
          </a:prstGeom>
          <a:solidFill>
            <a:srgbClr val="2B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36118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Infraestructura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2004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E7D32"/>
                </a:solidFill>
                <a:latin typeface="Segoe UI"/>
              </a:rPr>
              <a:t>Gratis para empezar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A2F1C"/>
                </a:solidFill>
                <a:latin typeface="Segoe UI"/>
              </a:rPr>
              <a:t>Hosting (Render/Railway)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A2F1C"/>
                </a:solidFill>
                <a:latin typeface="Segoe UI"/>
              </a:rPr>
              <a:t>Base de datos (PostgreSQL)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A2F1C"/>
                </a:solidFill>
                <a:latin typeface="Segoe UI"/>
              </a:rPr>
              <a:t>Redis (cola de push)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2B579A"/>
                </a:solidFill>
                <a:latin typeface="Segoe UI"/>
              </a:rPr>
              <a:t>Al crecer: 15-40 USD / 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611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611880" cy="7315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371600"/>
            <a:ext cx="36118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Gratis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004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F1C"/>
                </a:solidFill>
                <a:latin typeface="Segoe UI"/>
              </a:rPr>
              <a:t>Node.js, Git, VS Code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F1C"/>
                </a:solidFill>
                <a:latin typeface="Segoe UI"/>
              </a:rPr>
              <a:t>El codigo de la app (es tuyo)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F1C"/>
                </a:solidFill>
                <a:latin typeface="Segoe UI"/>
              </a:rPr>
              <a:t>GitHub (guardar/desplegar)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A2F1C"/>
                </a:solidFill>
                <a:latin typeface="Segoe UI"/>
              </a:rPr>
              <a:t>Certificados (van con Apple)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Segoe UI"/>
              </a:rPr>
              <a:t>Dominio propio: opcional ~12 USD/ano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11064240" cy="2240280"/>
          </a:xfrm>
          <a:prstGeom prst="roundRect">
            <a:avLst/>
          </a:prstGeom>
          <a:solidFill>
            <a:srgbClr val="4A2F1C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D6B282"/>
                </a:solidFill>
                <a:latin typeface="Segoe UI"/>
              </a:rPr>
              <a:t>En resumen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5120640" cy="141732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63440"/>
            <a:ext cx="475488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Para probar / pocos clientes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D6B282"/>
                </a:solidFill>
                <a:latin typeface="Segoe UI"/>
              </a:rPr>
              <a:t>Solo 99 USD/ano de Apple.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4E6"/>
                </a:solidFill>
                <a:latin typeface="Segoe UI"/>
              </a:rPr>
              <a:t>Todo lo demas puede ser gratis.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26280"/>
            <a:ext cx="5120640" cy="141732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40"/>
            <a:ext cx="475488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Funcionando en serio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D6B282"/>
                </a:solidFill>
                <a:latin typeface="Segoe UI"/>
              </a:rPr>
              <a:t>99 USD/ano + ~15-40 USD/mes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4E6"/>
                </a:solidFill>
                <a:latin typeface="Segoe UI"/>
              </a:rPr>
              <a:t>de infraestructura (+ dominio opcional).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Segoe UI"/>
              </a:rPr>
              <a:t>Los planes gratis del hosting pueden "dormir" la app; para un negocio real conviene el plan basico de pago.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¡Listo! Tu app esta publicada y funcionando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6949440" cy="4937760"/>
          </a:xfrm>
          <a:prstGeom prst="roundRect">
            <a:avLst/>
          </a:prstGeom>
          <a:solidFill>
            <a:srgbClr val="FFF4E6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6400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4A2F1C"/>
                </a:solidFill>
                <a:latin typeface="Segoe UI"/>
              </a:rPr>
              <a:t>Checklist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649224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Herramientas instaladas y codigo descargado.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Certificados de Apple en su sitio.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Base de datos PostgreSQL y Redis contratados.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.env configurado con tus datos y claves.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App desplegada en el hosting (web + worker) con HTTPS.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Base inicializada y operador creado.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Cafeteria y cliente de prueba creados.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D6B282"/>
                </a:solidFill>
                <a:latin typeface="Segoe UI"/>
              </a:rPr>
              <a:t>✓  </a:t>
            </a:r>
            <a:r>
              <a:rPr sz="1500" b="0">
                <a:solidFill>
                  <a:srgbClr val="4A2F1C"/>
                </a:solidFill>
                <a:latin typeface="Segoe UI"/>
              </a:rPr>
              <a:t>Tarjeta agregada al iPhone y actualizandose sola.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474720" cy="4937760"/>
          </a:xfrm>
          <a:prstGeom prst="roundRect">
            <a:avLst/>
          </a:prstGeom>
          <a:solidFill>
            <a:srgbClr val="6F4E37"/>
          </a:solidFill>
          <a:ln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108960" cy="3657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5400" b="1">
                <a:solidFill>
                  <a:srgbClr val="D6B282"/>
                </a:solidFill>
                <a:latin typeface="Segoe UI"/>
              </a:rPr>
              <a:t>🎉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Siguiente paso:</a:t>
            </a:r>
          </a:p>
          <a:p>
            <a:pPr algn="ctr"/>
            <a:r>
              <a:rPr sz="1400" b="0">
                <a:solidFill>
                  <a:srgbClr val="FFF4E6"/>
                </a:solidFill>
                <a:latin typeface="Segoe UI"/>
              </a:rPr>
              <a:t>comparte el enlace de</a:t>
            </a:r>
          </a:p>
          <a:p>
            <a:pPr algn="ctr"/>
            <a:r>
              <a:rPr sz="1400" b="0">
                <a:solidFill>
                  <a:srgbClr val="FFF4E6"/>
                </a:solidFill>
                <a:latin typeface="Segoe UI"/>
              </a:rPr>
              <a:t>descarga de la tarjeta</a:t>
            </a:r>
          </a:p>
          <a:p>
            <a:pPr algn="ctr"/>
            <a:r>
              <a:rPr sz="1400" b="0">
                <a:solidFill>
                  <a:srgbClr val="FFF4E6"/>
                </a:solidFill>
                <a:latin typeface="Segoe UI"/>
              </a:rPr>
              <a:t>con tus clientes y</a:t>
            </a:r>
          </a:p>
          <a:p>
            <a:pPr algn="ctr"/>
            <a:r>
              <a:rPr sz="1400" b="0">
                <a:solidFill>
                  <a:srgbClr val="FFF4E6"/>
                </a:solidFill>
                <a:latin typeface="Segoe UI"/>
              </a:rPr>
              <a:t>empieza a fidelizar.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